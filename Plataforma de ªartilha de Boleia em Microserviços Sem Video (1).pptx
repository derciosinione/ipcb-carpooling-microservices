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8" r:id="rId5"/>
    <p:sldId id="259" r:id="rId6"/>
    <p:sldId id="265" r:id="rId7"/>
    <p:sldId id="266" r:id="rId8"/>
    <p:sldId id="267" r:id="rId9"/>
    <p:sldId id="260" r:id="rId10"/>
    <p:sldId id="270" r:id="rId11"/>
    <p:sldId id="269" r:id="rId12"/>
    <p:sldId id="261" r:id="rId13"/>
    <p:sldId id="271" r:id="rId14"/>
    <p:sldId id="272" r:id="rId15"/>
    <p:sldId id="262" r:id="rId16"/>
    <p:sldId id="263" r:id="rId17"/>
    <p:sldId id="273" r:id="rId18"/>
    <p:sldId id="274" r:id="rId19"/>
    <p:sldId id="275" r:id="rId20"/>
    <p:sldId id="264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846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10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7243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458C-172E-DCEC-231C-A1B0F44A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9E1F7-F8FC-14A8-085F-6BC08CF67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3D815-4F2D-8544-543F-FF406752D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ED324F-6E25-F010-234E-78AA7CDBA4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2502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F6C5-C862-5F92-1C4A-467CC8721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7A4BE5-695E-EBCE-2895-67BC716D1D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987B4-1AEC-A58D-C539-EA3B158BCD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494F90-BDE1-CB89-C7BC-821FD9C32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4413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784C-ACEC-5474-BA39-07711D19F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008F5-F5B9-0EEF-D8F4-966708BDF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72726-C12B-282C-BFA6-3A4C3DD75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4B3DD2-3E59-E83F-536E-CAF51E388C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914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DF546-BFD0-07B7-0009-178E986A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CD4B72-6077-74BD-BB5A-022A806C92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84F90-1E96-20B4-A474-F959ED741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00E09-5927-9C60-4D05-52E25B86CB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8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44784-E60C-69F8-158A-98A812676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03AEDD-8F8C-9E08-8177-44DAFCFAF1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F9F17-DE55-4F36-E31E-84FCF6155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4CB4A-8C91-D20E-3D74-91B8745C61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8635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064B-54C1-5627-4AF1-CBBBDA46D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57D5D5-9D7B-F778-E9A7-09252BDFCC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9E2CA-3EEE-B5BE-6B74-F82602E0ED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284B6-414F-484A-12D2-199EAABD18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127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32313-1A17-C581-7929-9324E16C1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328BB-AB78-ECB6-AC08-5346123DC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A144F-67B4-D7B3-6E85-27ED21217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0EAF1-0F2F-AB46-53C2-867A3F39E4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686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9517A-5C6B-3A3F-2C87-A20ADADC7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DA4E96-4A10-6F2C-A6BA-0E9BE976C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934E1-17DE-24F9-9697-39BA95FBD5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4AD15-B88C-EB4C-61AC-536FF4056A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196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D7076-65B7-7B48-71FD-D285C9CEB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74A3ED-A73D-ADDF-09B9-FD72BB9EE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B524F-89CA-83E1-8BB5-30B079A98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2F6E8-0AD1-AE25-C363-F5DECF15FA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1463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B5ACA-EA60-0504-FED4-668B2A7EB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258C2F-388E-1ED3-0414-E1CE7A1003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18BBD6-00B4-3DEE-67CA-F83034370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0C84E-6FBF-6DE9-333F-9C3717B013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9243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CE8C0-BB9A-93D1-1D42-B7FDA5C33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B79546-F07A-2234-F512-AE23FE141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106C05-9CDB-4EAE-9814-3F9967467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6800D-5AE1-4A4B-66E5-5CB29F6267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930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3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18" Type="http://schemas.openxmlformats.org/officeDocument/2006/relationships/image" Target="../media/image4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1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3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75.png"/><Relationship Id="rId18" Type="http://schemas.openxmlformats.org/officeDocument/2006/relationships/image" Target="../media/image8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17" Type="http://schemas.openxmlformats.org/officeDocument/2006/relationships/image" Target="../media/image79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7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67.png"/><Relationship Id="rId15" Type="http://schemas.openxmlformats.org/officeDocument/2006/relationships/image" Target="../media/image77.png"/><Relationship Id="rId10" Type="http://schemas.openxmlformats.org/officeDocument/2006/relationships/image" Target="../media/image72.png"/><Relationship Id="rId4" Type="http://schemas.openxmlformats.org/officeDocument/2006/relationships/image" Target="../media/image3.png"/><Relationship Id="rId9" Type="http://schemas.openxmlformats.org/officeDocument/2006/relationships/image" Target="../media/image71.png"/><Relationship Id="rId14" Type="http://schemas.openxmlformats.org/officeDocument/2006/relationships/image" Target="../media/image7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3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66738" y="1927920"/>
            <a:ext cx="11058525" cy="1828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7200"/>
              </a:lnSpc>
              <a:buNone/>
            </a:pPr>
            <a:r>
              <a:rPr lang="en-US" sz="60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Plataforma de </a:t>
            </a:r>
            <a:r>
              <a:rPr lang="en-US" sz="60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Partilha</a:t>
            </a:r>
            <a:r>
              <a:rPr lang="en-US" sz="60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de </a:t>
            </a:r>
            <a:r>
              <a:rPr lang="en-US" sz="60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Boleias</a:t>
            </a:r>
            <a:r>
              <a:rPr lang="en-US" sz="60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
</a:t>
            </a:r>
            <a:r>
              <a:rPr lang="en-US" sz="3000" b="1" dirty="0">
                <a:solidFill>
                  <a:srgbClr val="475569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Baseada em Microserviços</a:t>
            </a:r>
            <a:endParaRPr lang="en-US" sz="6000" dirty="0"/>
          </a:p>
        </p:txBody>
      </p:sp>
      <p:sp>
        <p:nvSpPr>
          <p:cNvPr id="5" name="Text 1"/>
          <p:cNvSpPr/>
          <p:nvPr/>
        </p:nvSpPr>
        <p:spPr>
          <a:xfrm>
            <a:off x="3192780" y="4137720"/>
            <a:ext cx="5806440" cy="4875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840"/>
              </a:lnSpc>
              <a:buNone/>
            </a:pPr>
            <a:r>
              <a:rPr lang="en-US" sz="2400" b="1" dirty="0">
                <a:solidFill>
                  <a:srgbClr val="2563EB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Arquitetura, Implementação e Operação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4118610" y="4863405"/>
            <a:ext cx="395478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Dércio Sinione Domingos &amp; Joel Dialamicua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489" y="2453537"/>
            <a:ext cx="5600700" cy="3409504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304800" y="874663"/>
            <a:ext cx="1158240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Introdução ao Projeto</a:t>
            </a:r>
            <a:endParaRPr lang="en-US" sz="3600" dirty="0"/>
          </a:p>
        </p:txBody>
      </p:sp>
      <p:sp>
        <p:nvSpPr>
          <p:cNvPr id="8" name="Text 1"/>
          <p:cNvSpPr/>
          <p:nvPr/>
        </p:nvSpPr>
        <p:spPr>
          <a:xfrm>
            <a:off x="556489" y="3063137"/>
            <a:ext cx="483870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Solução avançada para mobilidade urbana distribuída.</a:t>
            </a:r>
            <a:endParaRPr lang="en-US" sz="1800" dirty="0"/>
          </a:p>
        </p:txBody>
      </p:sp>
      <p:sp>
        <p:nvSpPr>
          <p:cNvPr id="9" name="Text 2"/>
          <p:cNvSpPr/>
          <p:nvPr/>
        </p:nvSpPr>
        <p:spPr>
          <a:xfrm>
            <a:off x="556489" y="3946879"/>
            <a:ext cx="580644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Papéis: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Passageiro, Motorista e Administrador.</a:t>
            </a:r>
            <a:endParaRPr lang="en-US" sz="1800" dirty="0"/>
          </a:p>
        </p:txBody>
      </p:sp>
      <p:sp>
        <p:nvSpPr>
          <p:cNvPr id="10" name="Text 3"/>
          <p:cNvSpPr/>
          <p:nvPr/>
        </p:nvSpPr>
        <p:spPr>
          <a:xfrm>
            <a:off x="556489" y="4455424"/>
            <a:ext cx="580644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Fluxos: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Cadastro, Viagens, Pagamentos e GPS.</a:t>
            </a:r>
            <a:endParaRPr lang="en-US" sz="1800" dirty="0"/>
          </a:p>
        </p:txBody>
      </p:sp>
      <p:sp>
        <p:nvSpPr>
          <p:cNvPr id="11" name="Text 4"/>
          <p:cNvSpPr/>
          <p:nvPr/>
        </p:nvSpPr>
        <p:spPr>
          <a:xfrm>
            <a:off x="556489" y="4963970"/>
            <a:ext cx="580644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880"/>
              </a:lnSpc>
              <a:buSzPct val="100000"/>
              <a:buChar char="•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Foco: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Escalabilidade, resiliência e modularidade.</a:t>
            </a:r>
            <a:endParaRPr lang="en-US" sz="18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90E5887-1D39-FE0D-01A9-42DEEB55CB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608" y="2271061"/>
            <a:ext cx="6180283" cy="36853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432000"/>
            <a:ext cx="3683050" cy="3544937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65250" y="2717750"/>
            <a:ext cx="7620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9063" y="2813000"/>
            <a:ext cx="714375" cy="5715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4550" y="2432000"/>
            <a:ext cx="3683050" cy="3544937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15000" y="2717750"/>
            <a:ext cx="7620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8813" y="2813000"/>
            <a:ext cx="714375" cy="5715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04299" y="2432000"/>
            <a:ext cx="3683050" cy="3544937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64750" y="2717750"/>
            <a:ext cx="7620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760000" y="2813000"/>
            <a:ext cx="571500" cy="57150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Arquitetura de Microserviços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1140410" y="3670250"/>
            <a:ext cx="201168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Infraestrutura</a:t>
            </a:r>
            <a:endParaRPr lang="en-US" sz="2400" dirty="0"/>
          </a:p>
        </p:txBody>
      </p:sp>
      <p:sp>
        <p:nvSpPr>
          <p:cNvPr id="15" name="Text 2"/>
          <p:cNvSpPr/>
          <p:nvPr/>
        </p:nvSpPr>
        <p:spPr>
          <a:xfrm>
            <a:off x="590550" y="4451300"/>
            <a:ext cx="3111550" cy="10970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Eureka para descoberta dinâmica e Cloud Gateway como ponto de entrada único.</a:t>
            </a:r>
            <a:endParaRPr lang="en-US" sz="1800" dirty="0"/>
          </a:p>
        </p:txBody>
      </p:sp>
      <p:sp>
        <p:nvSpPr>
          <p:cNvPr id="16" name="Text 3"/>
          <p:cNvSpPr/>
          <p:nvPr/>
        </p:nvSpPr>
        <p:spPr>
          <a:xfrm>
            <a:off x="5593080" y="3670250"/>
            <a:ext cx="100584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Gestão</a:t>
            </a:r>
            <a:endParaRPr lang="en-US" sz="2400" dirty="0"/>
          </a:p>
        </p:txBody>
      </p:sp>
      <p:sp>
        <p:nvSpPr>
          <p:cNvPr id="17" name="Text 4"/>
          <p:cNvSpPr/>
          <p:nvPr/>
        </p:nvSpPr>
        <p:spPr>
          <a:xfrm>
            <a:off x="4540300" y="4451300"/>
            <a:ext cx="3111550" cy="10970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Identity Service (JWT) e Vehicles Service para controle de usuários e frotas.</a:t>
            </a:r>
            <a:endParaRPr lang="en-US" sz="1800" dirty="0"/>
          </a:p>
        </p:txBody>
      </p:sp>
      <p:sp>
        <p:nvSpPr>
          <p:cNvPr id="18" name="Text 5"/>
          <p:cNvSpPr/>
          <p:nvPr/>
        </p:nvSpPr>
        <p:spPr>
          <a:xfrm>
            <a:off x="9262795" y="3670250"/>
            <a:ext cx="156591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Operações</a:t>
            </a:r>
            <a:endParaRPr lang="en-US" sz="2400" dirty="0"/>
          </a:p>
        </p:txBody>
      </p:sp>
      <p:sp>
        <p:nvSpPr>
          <p:cNvPr id="19" name="Text 6"/>
          <p:cNvSpPr/>
          <p:nvPr/>
        </p:nvSpPr>
        <p:spPr>
          <a:xfrm>
            <a:off x="8490049" y="4451300"/>
            <a:ext cx="3111550" cy="109701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88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Trips, Payments, GPS e Notifications para o ciclo completo da viagem.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9F4F76-04C0-DB6E-4E5C-10A485BD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CA92DD24-D564-C412-BB97-248390D4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6442E47D-98DB-4CC4-A69E-73C4BEEF61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27BE5766-EBBA-D9F9-0356-E290AAE67FC9}"/>
              </a:ext>
            </a:extLst>
          </p:cNvPr>
          <p:cNvSpPr/>
          <p:nvPr/>
        </p:nvSpPr>
        <p:spPr>
          <a:xfrm>
            <a:off x="304800" y="283528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Eureka (Service Discovery)</a:t>
            </a:r>
            <a:endParaRPr lang="en-US" sz="36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154A68D-A344-3E83-D386-9AE3638CF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883957"/>
            <a:ext cx="7772400" cy="612089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E5F1289F-992E-401B-064C-FC702EE277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78010" y="2389076"/>
            <a:ext cx="3609190" cy="2968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17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115592"/>
            <a:ext cx="3683050" cy="417760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50" y="2115592"/>
            <a:ext cx="3683050" cy="4177605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4299" y="2115592"/>
            <a:ext cx="3683050" cy="417760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7174" y="2258467"/>
            <a:ext cx="3397300" cy="23812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Frontend: Spring Boot + Thymeleaf</a:t>
            </a:r>
            <a:endParaRPr lang="en-US" sz="3600" dirty="0"/>
          </a:p>
        </p:txBody>
      </p:sp>
      <p:sp>
        <p:nvSpPr>
          <p:cNvPr id="14" name="Text 1"/>
          <p:cNvSpPr/>
          <p:nvPr/>
        </p:nvSpPr>
        <p:spPr>
          <a:xfrm>
            <a:off x="1427113" y="4814342"/>
            <a:ext cx="172593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Dashboards</a:t>
            </a:r>
            <a:endParaRPr lang="en-US" sz="2400" dirty="0"/>
          </a:p>
        </p:txBody>
      </p:sp>
      <p:sp>
        <p:nvSpPr>
          <p:cNvPr id="15" name="Text 2"/>
          <p:cNvSpPr/>
          <p:nvPr/>
        </p:nvSpPr>
        <p:spPr>
          <a:xfrm>
            <a:off x="447675" y="5361596"/>
            <a:ext cx="33973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Painéis personalizados para passageiros e motoristas com histórico e métricas.</a:t>
            </a:r>
            <a:endParaRPr lang="en-US" sz="1350" dirty="0"/>
          </a:p>
        </p:txBody>
      </p:sp>
      <p:sp>
        <p:nvSpPr>
          <p:cNvPr id="16" name="Text 3"/>
          <p:cNvSpPr/>
          <p:nvPr/>
        </p:nvSpPr>
        <p:spPr>
          <a:xfrm>
            <a:off x="5448300" y="4814342"/>
            <a:ext cx="155448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Publicação</a:t>
            </a:r>
            <a:endParaRPr lang="en-US" sz="2400" dirty="0"/>
          </a:p>
        </p:txBody>
      </p:sp>
      <p:sp>
        <p:nvSpPr>
          <p:cNvPr id="17" name="Text 4"/>
          <p:cNvSpPr/>
          <p:nvPr/>
        </p:nvSpPr>
        <p:spPr>
          <a:xfrm>
            <a:off x="4397425" y="5334169"/>
            <a:ext cx="3397300" cy="6034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Processo multifase guiado para criação de viagens com validação em tempo real.</a:t>
            </a:r>
            <a:endParaRPr lang="en-US" sz="1350" dirty="0"/>
          </a:p>
        </p:txBody>
      </p:sp>
      <p:sp>
        <p:nvSpPr>
          <p:cNvPr id="18" name="Text 5"/>
          <p:cNvSpPr/>
          <p:nvPr/>
        </p:nvSpPr>
        <p:spPr>
          <a:xfrm>
            <a:off x="9664750" y="4814342"/>
            <a:ext cx="914400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Admin</a:t>
            </a:r>
            <a:endParaRPr lang="en-US" sz="2400" dirty="0"/>
          </a:p>
        </p:txBody>
      </p:sp>
      <p:sp>
        <p:nvSpPr>
          <p:cNvPr id="19" name="Text 6"/>
          <p:cNvSpPr/>
          <p:nvPr/>
        </p:nvSpPr>
        <p:spPr>
          <a:xfrm>
            <a:off x="8347174" y="5343126"/>
            <a:ext cx="339730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Interface exclusiva para monitoramento global de usuários, pagamentos e relatórios.</a:t>
            </a:r>
            <a:endParaRPr lang="en-US" sz="135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93F1DB0-E6BC-BF56-17D4-7439E9A03C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231" y="2537887"/>
            <a:ext cx="3353744" cy="19325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36BF063-68B7-6860-205E-36FFF81FD0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9472" y="2412956"/>
            <a:ext cx="3540176" cy="203994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E1139CB-2C06-ADD7-9C62-323F6647F9E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4972" y="2416273"/>
            <a:ext cx="3540176" cy="20399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785AB-5286-FDAD-15BA-A3B4B008E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346C0C7-BB1C-2A47-0DBC-BAE7ED24F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76C1A40E-73F2-186C-716F-45EDCA0BF4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3" name="Text 0">
            <a:extLst>
              <a:ext uri="{FF2B5EF4-FFF2-40B4-BE49-F238E27FC236}">
                <a16:creationId xmlns:a16="http://schemas.microsoft.com/office/drawing/2014/main" id="{AA017B50-C496-4BA5-B5F3-F3BEE60FA822}"/>
              </a:ext>
            </a:extLst>
          </p:cNvPr>
          <p:cNvSpPr/>
          <p:nvPr/>
        </p:nvSpPr>
        <p:spPr>
          <a:xfrm>
            <a:off x="341746" y="449790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Frontend: Spring Boot + Thymeleaf</a:t>
            </a:r>
            <a:endParaRPr lang="en-US" sz="3600" dirty="0"/>
          </a:p>
        </p:txBody>
      </p:sp>
      <p:sp>
        <p:nvSpPr>
          <p:cNvPr id="14" name="Text 1">
            <a:extLst>
              <a:ext uri="{FF2B5EF4-FFF2-40B4-BE49-F238E27FC236}">
                <a16:creationId xmlns:a16="http://schemas.microsoft.com/office/drawing/2014/main" id="{4746B315-7722-212D-2901-7581A5669F52}"/>
              </a:ext>
            </a:extLst>
          </p:cNvPr>
          <p:cNvSpPr/>
          <p:nvPr/>
        </p:nvSpPr>
        <p:spPr>
          <a:xfrm>
            <a:off x="411112" y="1199617"/>
            <a:ext cx="2830851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Dashboards </a:t>
            </a:r>
            <a:r>
              <a:rPr lang="en-US" sz="2400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Condutor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ED7776-7161-7AC2-9D84-7EF8351BF7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5777" y="1637140"/>
            <a:ext cx="9060445" cy="5220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122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F30A36-455A-3755-66B4-9AF3CBD5A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3A0EDF-07A2-62D8-F13B-3300BB410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D2FF9A8-3594-6B0F-4B44-D2855FD06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A10A61A0-E7EA-E6D0-145E-DA90EDD18982}"/>
              </a:ext>
            </a:extLst>
          </p:cNvPr>
          <p:cNvSpPr/>
          <p:nvPr/>
        </p:nvSpPr>
        <p:spPr>
          <a:xfrm>
            <a:off x="401876" y="562308"/>
            <a:ext cx="2830851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Publicar</a:t>
            </a: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sz="2400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Boleia</a:t>
            </a: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7F6109-FA3C-0EDB-6AE3-E4EA4481ED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510" y="1064450"/>
            <a:ext cx="8317252" cy="52968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932D3A-D650-E364-8B2D-3889C76D1C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7199" y="1398503"/>
            <a:ext cx="3258127" cy="20609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6D88F0E-E517-742D-8BDD-C6F6C35DFB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7199" y="3770685"/>
            <a:ext cx="3258126" cy="206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06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0CCB0-D31A-8CA1-9B64-A672D072F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E0C9B9B-2420-975D-AB50-4F9764905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E5984EF6-CCA5-DB8B-FF60-327031809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4" name="Text 1">
            <a:extLst>
              <a:ext uri="{FF2B5EF4-FFF2-40B4-BE49-F238E27FC236}">
                <a16:creationId xmlns:a16="http://schemas.microsoft.com/office/drawing/2014/main" id="{4C063B2E-DF09-E162-C8B5-8F6B9AFD0DA7}"/>
              </a:ext>
            </a:extLst>
          </p:cNvPr>
          <p:cNvSpPr/>
          <p:nvPr/>
        </p:nvSpPr>
        <p:spPr>
          <a:xfrm>
            <a:off x="383403" y="349872"/>
            <a:ext cx="2830851" cy="4095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Detalhes</a:t>
            </a:r>
            <a:r>
              <a:rPr lang="en-US" sz="24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da </a:t>
            </a:r>
            <a:r>
              <a:rPr lang="en-US" sz="2400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Viagem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D07388-571C-67D9-F895-F3798A01D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403" y="759447"/>
            <a:ext cx="7772400" cy="6188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8C2EA3-7954-0467-DD34-B46434F6F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903" y="888271"/>
            <a:ext cx="3625997" cy="28870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1484E4-CBFF-8325-55F5-9087CC1C7E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0902" y="3982546"/>
            <a:ext cx="3625997" cy="2875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46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2623245"/>
            <a:ext cx="9525000" cy="25241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4000" y="2813745"/>
            <a:ext cx="9144000" cy="21431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2813745"/>
            <a:ext cx="2160538" cy="5429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4538" y="2813745"/>
            <a:ext cx="4227165" cy="5429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11703" y="2813745"/>
            <a:ext cx="2756297" cy="5429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000" y="3356670"/>
            <a:ext cx="2160538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84538" y="3356670"/>
            <a:ext cx="4227165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11703" y="3356670"/>
            <a:ext cx="2756297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24000" y="3890070"/>
            <a:ext cx="2160538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84538" y="3890070"/>
            <a:ext cx="4227165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11703" y="3890070"/>
            <a:ext cx="2756297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24000" y="4423470"/>
            <a:ext cx="2160538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684538" y="4423470"/>
            <a:ext cx="4227165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1703" y="4423470"/>
            <a:ext cx="2756297" cy="533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Orquestração com Docker Swarm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1676400" y="2994720"/>
            <a:ext cx="1340197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Componente</a:t>
            </a:r>
            <a:endParaRPr lang="en-US" sz="1425" dirty="0"/>
          </a:p>
        </p:txBody>
      </p:sp>
      <p:sp>
        <p:nvSpPr>
          <p:cNvPr id="20" name="Text 2"/>
          <p:cNvSpPr/>
          <p:nvPr/>
        </p:nvSpPr>
        <p:spPr>
          <a:xfrm>
            <a:off x="3836939" y="2994720"/>
            <a:ext cx="1855738" cy="2095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Função Principal</a:t>
            </a:r>
            <a:endParaRPr lang="en-US" sz="1425" dirty="0"/>
          </a:p>
        </p:txBody>
      </p:sp>
      <p:sp>
        <p:nvSpPr>
          <p:cNvPr id="21" name="Text 3"/>
          <p:cNvSpPr/>
          <p:nvPr/>
        </p:nvSpPr>
        <p:spPr>
          <a:xfrm>
            <a:off x="8102203" y="2989213"/>
            <a:ext cx="1365647" cy="271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Acesso/Detalhe</a:t>
            </a:r>
            <a:endParaRPr lang="en-US" sz="1425" dirty="0"/>
          </a:p>
        </p:txBody>
      </p:sp>
      <p:sp>
        <p:nvSpPr>
          <p:cNvPr id="22" name="Text 4"/>
          <p:cNvSpPr/>
          <p:nvPr/>
        </p:nvSpPr>
        <p:spPr>
          <a:xfrm>
            <a:off x="1676400" y="3509070"/>
            <a:ext cx="108585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Docker Stack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3827785" y="3509850"/>
            <a:ext cx="2893665" cy="2717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Implantação completa do ecossistema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8064103" y="3528120"/>
            <a:ext cx="198185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docker-stack.yml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1676400" y="4042470"/>
            <a:ext cx="129159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Cloud Gateway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3836938" y="4080570"/>
            <a:ext cx="2316301" cy="2344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Roteamento centralizado de APIs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8064103" y="4061520"/>
            <a:ext cx="1734145" cy="2000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localhost:8888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1676400" y="4575870"/>
            <a:ext cx="113157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Rede Overlay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3827785" y="4608977"/>
            <a:ext cx="2554626" cy="246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Comunicação segura entre serviços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8050470" y="4608977"/>
            <a:ext cx="1734145" cy="2463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Isolamento de tráfego</a:t>
            </a:r>
            <a:endParaRPr lang="en-US" sz="1350" dirty="0"/>
          </a:p>
        </p:txBody>
      </p:sp>
      <p:sp>
        <p:nvSpPr>
          <p:cNvPr id="31" name="Text 13"/>
          <p:cNvSpPr/>
          <p:nvPr/>
        </p:nvSpPr>
        <p:spPr>
          <a:xfrm>
            <a:off x="3714750" y="5337870"/>
            <a:ext cx="57150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64748B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Escalabilidade horizontal e recuperação automática de falhas.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1E8B7-55AB-00BD-6F0E-C6E254B6F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BC730C54-8036-AA01-272E-7C3D4799A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1E106E0-555F-583E-4F7B-71191A5465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662CC04E-8FDD-B24C-6D79-54126A6D0D9C}"/>
              </a:ext>
            </a:extLst>
          </p:cNvPr>
          <p:cNvSpPr/>
          <p:nvPr/>
        </p:nvSpPr>
        <p:spPr>
          <a:xfrm>
            <a:off x="304800" y="42207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Gestão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e </a:t>
            </a: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Administração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de Containers (</a:t>
            </a: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Portainer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)</a:t>
            </a:r>
            <a:endParaRPr lang="en-US" sz="3600" dirty="0"/>
          </a:p>
        </p:txBody>
      </p:sp>
      <p:sp>
        <p:nvSpPr>
          <p:cNvPr id="32" name="Text 1">
            <a:extLst>
              <a:ext uri="{FF2B5EF4-FFF2-40B4-BE49-F238E27FC236}">
                <a16:creationId xmlns:a16="http://schemas.microsoft.com/office/drawing/2014/main" id="{AA402773-102F-31F4-2319-3FB84C1DB8C4}"/>
              </a:ext>
            </a:extLst>
          </p:cNvPr>
          <p:cNvSpPr/>
          <p:nvPr/>
        </p:nvSpPr>
        <p:spPr>
          <a:xfrm>
            <a:off x="277091" y="1112617"/>
            <a:ext cx="11637818" cy="10948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ctr">
              <a:lnSpc>
                <a:spcPts val="2880"/>
              </a:lnSpc>
            </a:pPr>
            <a:r>
              <a:rPr lang="en-US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Portainer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é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uma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plataforma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web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que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permite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gerir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containers Docker e Kubernetes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através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de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uma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interface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gráfica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intuitiva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,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facilitando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a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criação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,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monitorização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e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administração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de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aplicações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sem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necessidade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de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recorrer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constantemente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</a:t>
            </a:r>
            <a:r>
              <a:rPr lang="en-US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ao</a:t>
            </a:r>
            <a:r>
              <a:rPr lang="en-US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terminal.</a:t>
            </a:r>
            <a:endParaRPr lang="en-US" sz="18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C2EDCBF-6028-9BA9-4DC9-5380C713CD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1" y="2159012"/>
            <a:ext cx="7861266" cy="469898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9BBD6604-A0F6-4248-F55F-40C88F74B2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948" y="2159012"/>
            <a:ext cx="3523127" cy="2105912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702C1A5-9CE6-504A-8CA1-5E80DB1935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9948" y="4470133"/>
            <a:ext cx="3499461" cy="238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190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82BEB5-2B44-6B7E-1640-1CF2C0B95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37ED663-41ED-4BD7-C20A-0C725769B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EA41104-5CC7-7829-A630-773EFB2B5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E278EEC3-7C08-0405-2698-4F97A84A547E}"/>
              </a:ext>
            </a:extLst>
          </p:cNvPr>
          <p:cNvSpPr/>
          <p:nvPr/>
        </p:nvSpPr>
        <p:spPr>
          <a:xfrm>
            <a:off x="304800" y="42207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Gestão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e </a:t>
            </a: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Administração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de Containers (</a:t>
            </a: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Portainer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)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293FDC-1B3E-1FE2-AA90-3E409BBF7F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29" y="1875525"/>
            <a:ext cx="7772400" cy="44148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4C9CFB-055A-736D-473F-39E880B89A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5887" y="1646448"/>
            <a:ext cx="3991955" cy="22674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1FB98A-3862-7724-4A64-54AFCAAA6E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5887" y="4071856"/>
            <a:ext cx="3991955" cy="278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778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" y="2204145"/>
            <a:ext cx="4000500" cy="400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00" y="3347145"/>
            <a:ext cx="1714500" cy="1714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3427214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0" y="3888135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6500" y="4349055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86500" y="4809976"/>
            <a:ext cx="171450" cy="1714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Monitoramento e Observabilidade</a:t>
            </a:r>
            <a:endParaRPr lang="en-US" sz="3600" dirty="0"/>
          </a:p>
        </p:txBody>
      </p:sp>
      <p:sp>
        <p:nvSpPr>
          <p:cNvPr id="11" name="Text 1"/>
          <p:cNvSpPr/>
          <p:nvPr/>
        </p:nvSpPr>
        <p:spPr>
          <a:xfrm>
            <a:off x="2904980" y="4000501"/>
            <a:ext cx="400339" cy="2515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Stack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6724072" y="3330178"/>
            <a:ext cx="3823855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Prometheus: </a:t>
            </a:r>
            <a:r>
              <a:rPr lang="en-US" sz="1800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Métricas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de performance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6724072" y="3791099"/>
            <a:ext cx="3352801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Grafana: 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Dashboards interativos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6724072" y="4252020"/>
            <a:ext cx="3592946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Loki + </a:t>
            </a:r>
            <a:r>
              <a:rPr lang="en-US" sz="1800" b="1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Promtail</a:t>
            </a: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: 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Logs centralizados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6724072" y="4712940"/>
            <a:ext cx="3823855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Actuator: </a:t>
            </a:r>
            <a:r>
              <a:rPr lang="en-US" sz="1800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Saúde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e Circuit Breakers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7EAFB-1709-1245-29EB-73DB0A2E0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3A975E0-ED05-59C9-6608-0873C878E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5DBCE1EC-EE18-83D2-451B-4EB74CE70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04C62FC3-EAAB-2A92-5AB1-226E97B2EDEC}"/>
              </a:ext>
            </a:extLst>
          </p:cNvPr>
          <p:cNvSpPr/>
          <p:nvPr/>
        </p:nvSpPr>
        <p:spPr>
          <a:xfrm>
            <a:off x="295564" y="101600"/>
            <a:ext cx="6262254" cy="4373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Monitoramento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com </a:t>
            </a: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Graphana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A53504-A6F4-BDE9-F69D-F7694854D2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258" y="735044"/>
            <a:ext cx="7772400" cy="63078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3EC65D4-6A3A-58B5-4324-F68625F3F5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7084" y="1500909"/>
            <a:ext cx="4097193" cy="19280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D995A8-D39F-419E-63EE-3D23B27ACF5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0366" y="3653558"/>
            <a:ext cx="4105476" cy="30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886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7F75F4-A20C-6ACC-D84A-4D3831E7D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E6A1DF2F-D746-B268-3A47-2F3035544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35064657-AEBB-149E-B200-B1C61400B4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34273"/>
            <a:ext cx="12249723" cy="7273273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3F74D9A2-A4F3-9093-66A1-4972F82265F0}"/>
              </a:ext>
            </a:extLst>
          </p:cNvPr>
          <p:cNvSpPr/>
          <p:nvPr/>
        </p:nvSpPr>
        <p:spPr>
          <a:xfrm>
            <a:off x="295564" y="101600"/>
            <a:ext cx="6770254" cy="4373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Monitoramento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com Prometheus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E8EA07-2A2F-9BB6-D7D0-09E43FE73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564" y="640571"/>
            <a:ext cx="7772400" cy="63792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67DCCC-DB26-FF97-6F54-41810B8360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271" y="723699"/>
            <a:ext cx="3548165" cy="281926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3522B6-31D7-723E-0785-C9076595BD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8271" y="3685491"/>
            <a:ext cx="3532908" cy="3238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34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0313" y="3158728"/>
            <a:ext cx="276225" cy="2476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00313" y="3695849"/>
            <a:ext cx="314325" cy="2476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00313" y="4232970"/>
            <a:ext cx="314325" cy="2476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00313" y="4770090"/>
            <a:ext cx="247650" cy="2476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Execução e Implantação</a:t>
            </a:r>
            <a:endParaRPr lang="en-US" sz="3600" dirty="0"/>
          </a:p>
        </p:txBody>
      </p:sp>
      <p:sp>
        <p:nvSpPr>
          <p:cNvPr id="9" name="Text 1"/>
          <p:cNvSpPr/>
          <p:nvPr/>
        </p:nvSpPr>
        <p:spPr>
          <a:xfrm>
            <a:off x="3075709" y="3130153"/>
            <a:ext cx="4128655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Script de Deploy: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 automatiza todo o ciclo.</a:t>
            </a:r>
            <a:endParaRPr lang="en-US" sz="1800" dirty="0"/>
          </a:p>
        </p:txBody>
      </p:sp>
      <p:sp>
        <p:nvSpPr>
          <p:cNvPr id="10" name="Text 2"/>
          <p:cNvSpPr/>
          <p:nvPr/>
        </p:nvSpPr>
        <p:spPr>
          <a:xfrm>
            <a:off x="3075709" y="3667274"/>
            <a:ext cx="6871855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Build de Imagens: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Geração consistente de contêineres para cada serviço.</a:t>
            </a:r>
            <a:endParaRPr lang="en-US" sz="1800" dirty="0"/>
          </a:p>
        </p:txBody>
      </p:sp>
      <p:sp>
        <p:nvSpPr>
          <p:cNvPr id="11" name="Text 3"/>
          <p:cNvSpPr/>
          <p:nvPr/>
        </p:nvSpPr>
        <p:spPr>
          <a:xfrm>
            <a:off x="3075708" y="4204395"/>
            <a:ext cx="6096002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Setup de Rede: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Criação automática de redes overlay e volumes.</a:t>
            </a:r>
            <a:endParaRPr lang="en-US" sz="1800" dirty="0"/>
          </a:p>
        </p:txBody>
      </p:sp>
      <p:sp>
        <p:nvSpPr>
          <p:cNvPr id="12" name="Text 4"/>
          <p:cNvSpPr/>
          <p:nvPr/>
        </p:nvSpPr>
        <p:spPr>
          <a:xfrm>
            <a:off x="3075707" y="4741515"/>
            <a:ext cx="6243784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2880"/>
              </a:lnSpc>
              <a:buSzPct val="100000"/>
            </a:pPr>
            <a:r>
              <a:rPr lang="en-US" sz="180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Stack Deploy: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Inicialização coordenada de </a:t>
            </a:r>
            <a:r>
              <a:rPr lang="en-US" sz="1800" dirty="0" err="1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toda</a:t>
            </a: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 infraestrutura.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942332"/>
            <a:ext cx="11582400" cy="252412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3132832"/>
            <a:ext cx="11201400" cy="2143125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132832"/>
            <a:ext cx="2372618" cy="542925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7918" y="3132832"/>
            <a:ext cx="6235154" cy="54292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3072" y="3132832"/>
            <a:ext cx="2593628" cy="54292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675757"/>
            <a:ext cx="2372618" cy="5334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7918" y="3675757"/>
            <a:ext cx="6235154" cy="533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3072" y="3675757"/>
            <a:ext cx="2593628" cy="5334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4209157"/>
            <a:ext cx="2372618" cy="5334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7918" y="4209157"/>
            <a:ext cx="6235154" cy="533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3072" y="4209157"/>
            <a:ext cx="2593628" cy="5334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4742557"/>
            <a:ext cx="2372618" cy="533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67918" y="4742557"/>
            <a:ext cx="6235154" cy="5334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3072" y="4742557"/>
            <a:ext cx="2593628" cy="533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Documentação e Endpoints</a:t>
            </a:r>
            <a:endParaRPr lang="en-US" sz="3600" dirty="0"/>
          </a:p>
        </p:txBody>
      </p:sp>
      <p:sp>
        <p:nvSpPr>
          <p:cNvPr id="19" name="Text 1"/>
          <p:cNvSpPr/>
          <p:nvPr/>
        </p:nvSpPr>
        <p:spPr>
          <a:xfrm>
            <a:off x="647700" y="3280916"/>
            <a:ext cx="937260" cy="246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Recurso</a:t>
            </a:r>
            <a:endParaRPr lang="en-US" sz="1425" dirty="0"/>
          </a:p>
        </p:txBody>
      </p:sp>
      <p:sp>
        <p:nvSpPr>
          <p:cNvPr id="20" name="Text 2"/>
          <p:cNvSpPr/>
          <p:nvPr/>
        </p:nvSpPr>
        <p:spPr>
          <a:xfrm>
            <a:off x="3020318" y="3271680"/>
            <a:ext cx="1394664" cy="2652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Descrição</a:t>
            </a:r>
            <a:endParaRPr lang="en-US" sz="1425" dirty="0"/>
          </a:p>
        </p:txBody>
      </p:sp>
      <p:sp>
        <p:nvSpPr>
          <p:cNvPr id="21" name="Text 3"/>
          <p:cNvSpPr/>
          <p:nvPr/>
        </p:nvSpPr>
        <p:spPr>
          <a:xfrm>
            <a:off x="9198322" y="3316060"/>
            <a:ext cx="1189881" cy="246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Tecnologia</a:t>
            </a:r>
            <a:endParaRPr lang="en-US" sz="1425" dirty="0"/>
          </a:p>
        </p:txBody>
      </p:sp>
      <p:sp>
        <p:nvSpPr>
          <p:cNvPr id="22" name="Text 4"/>
          <p:cNvSpPr/>
          <p:nvPr/>
        </p:nvSpPr>
        <p:spPr>
          <a:xfrm>
            <a:off x="647700" y="3828157"/>
            <a:ext cx="1108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Endpoints.md</a:t>
            </a:r>
            <a:endParaRPr lang="en-US" sz="1350" dirty="0"/>
          </a:p>
        </p:txBody>
      </p:sp>
      <p:sp>
        <p:nvSpPr>
          <p:cNvPr id="23" name="Text 5"/>
          <p:cNvSpPr/>
          <p:nvPr/>
        </p:nvSpPr>
        <p:spPr>
          <a:xfrm>
            <a:off x="3020318" y="3831778"/>
            <a:ext cx="3371246" cy="2652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Lista completa de APIs REST e parâmetros</a:t>
            </a:r>
            <a:endParaRPr lang="en-US" sz="1350" dirty="0"/>
          </a:p>
        </p:txBody>
      </p:sp>
      <p:sp>
        <p:nvSpPr>
          <p:cNvPr id="24" name="Text 6"/>
          <p:cNvSpPr/>
          <p:nvPr/>
        </p:nvSpPr>
        <p:spPr>
          <a:xfrm>
            <a:off x="9198322" y="3846835"/>
            <a:ext cx="12470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Markdown</a:t>
            </a:r>
            <a:endParaRPr lang="en-US" sz="1350" dirty="0"/>
          </a:p>
        </p:txBody>
      </p:sp>
      <p:sp>
        <p:nvSpPr>
          <p:cNvPr id="25" name="Text 7"/>
          <p:cNvSpPr/>
          <p:nvPr/>
        </p:nvSpPr>
        <p:spPr>
          <a:xfrm>
            <a:off x="647700" y="4361557"/>
            <a:ext cx="937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Swagger UI</a:t>
            </a:r>
            <a:endParaRPr lang="en-US" sz="1350" dirty="0"/>
          </a:p>
        </p:txBody>
      </p:sp>
      <p:sp>
        <p:nvSpPr>
          <p:cNvPr id="26" name="Text 8"/>
          <p:cNvSpPr/>
          <p:nvPr/>
        </p:nvSpPr>
        <p:spPr>
          <a:xfrm>
            <a:off x="3020318" y="4361557"/>
            <a:ext cx="2660708" cy="26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Documentação interativa para testes</a:t>
            </a:r>
            <a:endParaRPr lang="en-US" sz="1350" dirty="0"/>
          </a:p>
        </p:txBody>
      </p:sp>
      <p:sp>
        <p:nvSpPr>
          <p:cNvPr id="27" name="Text 9"/>
          <p:cNvSpPr/>
          <p:nvPr/>
        </p:nvSpPr>
        <p:spPr>
          <a:xfrm>
            <a:off x="9198322" y="4361557"/>
            <a:ext cx="25936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OpenAPI 3.0</a:t>
            </a:r>
            <a:endParaRPr lang="en-US" sz="1350" dirty="0"/>
          </a:p>
        </p:txBody>
      </p:sp>
      <p:sp>
        <p:nvSpPr>
          <p:cNvPr id="28" name="Text 10"/>
          <p:cNvSpPr/>
          <p:nvPr/>
        </p:nvSpPr>
        <p:spPr>
          <a:xfrm>
            <a:off x="647700" y="4894957"/>
            <a:ext cx="868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29" name="Text 11"/>
          <p:cNvSpPr/>
          <p:nvPr/>
        </p:nvSpPr>
        <p:spPr>
          <a:xfrm>
            <a:off x="2982218" y="4900256"/>
            <a:ext cx="3307746" cy="26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Autenticação baseada em tokens</a:t>
            </a:r>
            <a:endParaRPr lang="en-US" sz="1350" dirty="0"/>
          </a:p>
        </p:txBody>
      </p:sp>
      <p:sp>
        <p:nvSpPr>
          <p:cNvPr id="30" name="Text 12"/>
          <p:cNvSpPr/>
          <p:nvPr/>
        </p:nvSpPr>
        <p:spPr>
          <a:xfrm>
            <a:off x="9157796" y="4933057"/>
            <a:ext cx="15471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JWT (Bearer)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3269EB-0C9A-21D5-2B7F-F8D5F4899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033A004A-74AC-E4B7-C3AA-B9B193EEA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D8C7D47-6A57-3DE1-2C42-0422A69FC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C2F4794D-CFCA-F922-27A6-82C1B987E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2942332"/>
            <a:ext cx="11582400" cy="2524125"/>
          </a:xfrm>
          <a:prstGeom prst="rect">
            <a:avLst/>
          </a:prstGeom>
        </p:spPr>
      </p:pic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9CC08E98-775F-09A2-B9E1-FB42BCC9BD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300" y="3132832"/>
            <a:ext cx="11201400" cy="2143125"/>
          </a:xfrm>
          <a:prstGeom prst="rect">
            <a:avLst/>
          </a:prstGeom>
        </p:spPr>
      </p:pic>
      <p:pic>
        <p:nvPicPr>
          <p:cNvPr id="6" name="Image 4" descr="preencoded.png">
            <a:extLst>
              <a:ext uri="{FF2B5EF4-FFF2-40B4-BE49-F238E27FC236}">
                <a16:creationId xmlns:a16="http://schemas.microsoft.com/office/drawing/2014/main" id="{BCF0242D-BFF9-FDBB-F24F-7D236097CB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300" y="3132832"/>
            <a:ext cx="2372618" cy="542925"/>
          </a:xfrm>
          <a:prstGeom prst="rect">
            <a:avLst/>
          </a:prstGeom>
        </p:spPr>
      </p:pic>
      <p:pic>
        <p:nvPicPr>
          <p:cNvPr id="7" name="Image 5" descr="preencoded.png">
            <a:extLst>
              <a:ext uri="{FF2B5EF4-FFF2-40B4-BE49-F238E27FC236}">
                <a16:creationId xmlns:a16="http://schemas.microsoft.com/office/drawing/2014/main" id="{FEE2C4ED-C5B8-E854-0BDB-B678A1A037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7918" y="3132832"/>
            <a:ext cx="6235154" cy="542925"/>
          </a:xfrm>
          <a:prstGeom prst="rect">
            <a:avLst/>
          </a:prstGeom>
        </p:spPr>
      </p:pic>
      <p:pic>
        <p:nvPicPr>
          <p:cNvPr id="8" name="Image 6" descr="preencoded.png">
            <a:extLst>
              <a:ext uri="{FF2B5EF4-FFF2-40B4-BE49-F238E27FC236}">
                <a16:creationId xmlns:a16="http://schemas.microsoft.com/office/drawing/2014/main" id="{168516FC-D336-50A3-DC95-EF506622AD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3072" y="3132832"/>
            <a:ext cx="2593628" cy="542925"/>
          </a:xfrm>
          <a:prstGeom prst="rect">
            <a:avLst/>
          </a:prstGeom>
        </p:spPr>
      </p:pic>
      <p:pic>
        <p:nvPicPr>
          <p:cNvPr id="9" name="Image 7" descr="preencoded.png">
            <a:extLst>
              <a:ext uri="{FF2B5EF4-FFF2-40B4-BE49-F238E27FC236}">
                <a16:creationId xmlns:a16="http://schemas.microsoft.com/office/drawing/2014/main" id="{022801B9-0074-CE2A-CF9F-CABBCB50C2C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300" y="3675757"/>
            <a:ext cx="2372618" cy="533400"/>
          </a:xfrm>
          <a:prstGeom prst="rect">
            <a:avLst/>
          </a:prstGeom>
        </p:spPr>
      </p:pic>
      <p:pic>
        <p:nvPicPr>
          <p:cNvPr id="10" name="Image 8" descr="preencoded.png">
            <a:extLst>
              <a:ext uri="{FF2B5EF4-FFF2-40B4-BE49-F238E27FC236}">
                <a16:creationId xmlns:a16="http://schemas.microsoft.com/office/drawing/2014/main" id="{16297045-0AFD-A4A3-827D-72370EEB537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7918" y="3675757"/>
            <a:ext cx="6235154" cy="533400"/>
          </a:xfrm>
          <a:prstGeom prst="rect">
            <a:avLst/>
          </a:prstGeom>
        </p:spPr>
      </p:pic>
      <p:pic>
        <p:nvPicPr>
          <p:cNvPr id="11" name="Image 9" descr="preencoded.png">
            <a:extLst>
              <a:ext uri="{FF2B5EF4-FFF2-40B4-BE49-F238E27FC236}">
                <a16:creationId xmlns:a16="http://schemas.microsoft.com/office/drawing/2014/main" id="{E98B58B7-AFB8-91ED-0FC3-C922CED15F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03072" y="3675757"/>
            <a:ext cx="2593628" cy="533400"/>
          </a:xfrm>
          <a:prstGeom prst="rect">
            <a:avLst/>
          </a:prstGeom>
        </p:spPr>
      </p:pic>
      <p:pic>
        <p:nvPicPr>
          <p:cNvPr id="12" name="Image 10" descr="preencoded.png">
            <a:extLst>
              <a:ext uri="{FF2B5EF4-FFF2-40B4-BE49-F238E27FC236}">
                <a16:creationId xmlns:a16="http://schemas.microsoft.com/office/drawing/2014/main" id="{C92E9BA7-CD72-30F9-0C35-AA90865937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5300" y="4209157"/>
            <a:ext cx="2372618" cy="533400"/>
          </a:xfrm>
          <a:prstGeom prst="rect">
            <a:avLst/>
          </a:prstGeom>
        </p:spPr>
      </p:pic>
      <p:pic>
        <p:nvPicPr>
          <p:cNvPr id="13" name="Image 11" descr="preencoded.png">
            <a:extLst>
              <a:ext uri="{FF2B5EF4-FFF2-40B4-BE49-F238E27FC236}">
                <a16:creationId xmlns:a16="http://schemas.microsoft.com/office/drawing/2014/main" id="{06EA090E-20A7-3DEA-22BB-CCD17055BC1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67918" y="4209157"/>
            <a:ext cx="6235154" cy="533400"/>
          </a:xfrm>
          <a:prstGeom prst="rect">
            <a:avLst/>
          </a:prstGeom>
        </p:spPr>
      </p:pic>
      <p:pic>
        <p:nvPicPr>
          <p:cNvPr id="14" name="Image 12" descr="preencoded.png">
            <a:extLst>
              <a:ext uri="{FF2B5EF4-FFF2-40B4-BE49-F238E27FC236}">
                <a16:creationId xmlns:a16="http://schemas.microsoft.com/office/drawing/2014/main" id="{CA7D49E3-F980-B07D-14B6-6B8D167C960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103072" y="4209157"/>
            <a:ext cx="2593628" cy="533400"/>
          </a:xfrm>
          <a:prstGeom prst="rect">
            <a:avLst/>
          </a:prstGeom>
        </p:spPr>
      </p:pic>
      <p:pic>
        <p:nvPicPr>
          <p:cNvPr id="15" name="Image 13" descr="preencoded.png">
            <a:extLst>
              <a:ext uri="{FF2B5EF4-FFF2-40B4-BE49-F238E27FC236}">
                <a16:creationId xmlns:a16="http://schemas.microsoft.com/office/drawing/2014/main" id="{52F65DC7-90D3-CB51-80F6-E55612B0F35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5300" y="4742557"/>
            <a:ext cx="2372618" cy="533400"/>
          </a:xfrm>
          <a:prstGeom prst="rect">
            <a:avLst/>
          </a:prstGeom>
        </p:spPr>
      </p:pic>
      <p:pic>
        <p:nvPicPr>
          <p:cNvPr id="16" name="Image 14" descr="preencoded.png">
            <a:extLst>
              <a:ext uri="{FF2B5EF4-FFF2-40B4-BE49-F238E27FC236}">
                <a16:creationId xmlns:a16="http://schemas.microsoft.com/office/drawing/2014/main" id="{A8EE18D3-E822-B357-6E90-1DC7EB475E4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867918" y="4742557"/>
            <a:ext cx="6235154" cy="533400"/>
          </a:xfrm>
          <a:prstGeom prst="rect">
            <a:avLst/>
          </a:prstGeom>
        </p:spPr>
      </p:pic>
      <p:pic>
        <p:nvPicPr>
          <p:cNvPr id="17" name="Image 15" descr="preencoded.png">
            <a:extLst>
              <a:ext uri="{FF2B5EF4-FFF2-40B4-BE49-F238E27FC236}">
                <a16:creationId xmlns:a16="http://schemas.microsoft.com/office/drawing/2014/main" id="{13FFAA30-21AB-A3B8-27FA-73F348024FA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103072" y="4742557"/>
            <a:ext cx="2593628" cy="5334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B1CE8C51-12A0-4397-3AF1-07C788829DE6}"/>
              </a:ext>
            </a:extLst>
          </p:cNvPr>
          <p:cNvSpPr/>
          <p:nvPr/>
        </p:nvSpPr>
        <p:spPr>
          <a:xfrm>
            <a:off x="304800" y="874663"/>
            <a:ext cx="1389888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Documentação e Endpoints</a:t>
            </a:r>
            <a:endParaRPr lang="en-US" sz="36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62D45269-BD0A-DAB4-61A4-FC7BC966F659}"/>
              </a:ext>
            </a:extLst>
          </p:cNvPr>
          <p:cNvSpPr/>
          <p:nvPr/>
        </p:nvSpPr>
        <p:spPr>
          <a:xfrm>
            <a:off x="647700" y="3280916"/>
            <a:ext cx="937260" cy="246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Recurso</a:t>
            </a:r>
            <a:endParaRPr lang="en-US" sz="1425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1456419-2B70-9518-7417-768DD407AAC2}"/>
              </a:ext>
            </a:extLst>
          </p:cNvPr>
          <p:cNvSpPr/>
          <p:nvPr/>
        </p:nvSpPr>
        <p:spPr>
          <a:xfrm>
            <a:off x="3020318" y="3271680"/>
            <a:ext cx="1394664" cy="2652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Descrição</a:t>
            </a:r>
            <a:endParaRPr lang="en-US" sz="1425" dirty="0"/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412FD534-31FA-F272-10E0-220220221681}"/>
              </a:ext>
            </a:extLst>
          </p:cNvPr>
          <p:cNvSpPr/>
          <p:nvPr/>
        </p:nvSpPr>
        <p:spPr>
          <a:xfrm>
            <a:off x="9198322" y="3316060"/>
            <a:ext cx="1189881" cy="2467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FFFFFF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Tecnologia</a:t>
            </a:r>
            <a:endParaRPr lang="en-US" sz="1425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6E07E4B-0D87-45DA-48C0-FEB1445CA9E2}"/>
              </a:ext>
            </a:extLst>
          </p:cNvPr>
          <p:cNvSpPr/>
          <p:nvPr/>
        </p:nvSpPr>
        <p:spPr>
          <a:xfrm>
            <a:off x="647700" y="3828157"/>
            <a:ext cx="110871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Endpoints.md</a:t>
            </a:r>
            <a:endParaRPr lang="en-US" sz="1350" dirty="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7E76FF53-FAB4-3B2D-F147-7FEEEA6CA14A}"/>
              </a:ext>
            </a:extLst>
          </p:cNvPr>
          <p:cNvSpPr/>
          <p:nvPr/>
        </p:nvSpPr>
        <p:spPr>
          <a:xfrm>
            <a:off x="3020318" y="3831778"/>
            <a:ext cx="3371246" cy="2652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Lista completa de APIs REST e parâmetros</a:t>
            </a:r>
            <a:endParaRPr lang="en-US" sz="13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015AB4CA-20B7-16E5-2459-42A6C1F20D7E}"/>
              </a:ext>
            </a:extLst>
          </p:cNvPr>
          <p:cNvSpPr/>
          <p:nvPr/>
        </p:nvSpPr>
        <p:spPr>
          <a:xfrm>
            <a:off x="9198322" y="3846835"/>
            <a:ext cx="1247031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Markdown</a:t>
            </a:r>
            <a:endParaRPr lang="en-US" sz="1350" dirty="0"/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A9AB93A2-D7CF-5D91-9C6D-A50FEDAD2A9E}"/>
              </a:ext>
            </a:extLst>
          </p:cNvPr>
          <p:cNvSpPr/>
          <p:nvPr/>
        </p:nvSpPr>
        <p:spPr>
          <a:xfrm>
            <a:off x="647700" y="4361557"/>
            <a:ext cx="9372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Swagger UI</a:t>
            </a:r>
            <a:endParaRPr lang="en-US" sz="1350" dirty="0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7F871C58-0513-135E-0F07-FDD87AEDF402}"/>
              </a:ext>
            </a:extLst>
          </p:cNvPr>
          <p:cNvSpPr/>
          <p:nvPr/>
        </p:nvSpPr>
        <p:spPr>
          <a:xfrm>
            <a:off x="3020318" y="4361557"/>
            <a:ext cx="2660708" cy="26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Documentação interativa para testes</a:t>
            </a:r>
            <a:endParaRPr lang="en-US" sz="1350" dirty="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F456E4A9-4FAF-9259-D9B6-720CD75ACDE6}"/>
              </a:ext>
            </a:extLst>
          </p:cNvPr>
          <p:cNvSpPr/>
          <p:nvPr/>
        </p:nvSpPr>
        <p:spPr>
          <a:xfrm>
            <a:off x="9198322" y="4361557"/>
            <a:ext cx="2593628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OpenAPI 3.0</a:t>
            </a:r>
            <a:endParaRPr lang="en-US" sz="135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133EA396-84C2-E1A4-3BD0-23A85826895C}"/>
              </a:ext>
            </a:extLst>
          </p:cNvPr>
          <p:cNvSpPr/>
          <p:nvPr/>
        </p:nvSpPr>
        <p:spPr>
          <a:xfrm>
            <a:off x="647700" y="4894957"/>
            <a:ext cx="868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Segurança</a:t>
            </a:r>
            <a:endParaRPr lang="en-US" sz="135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833C5EB9-CF46-7B56-E960-909B56B9D96F}"/>
              </a:ext>
            </a:extLst>
          </p:cNvPr>
          <p:cNvSpPr/>
          <p:nvPr/>
        </p:nvSpPr>
        <p:spPr>
          <a:xfrm>
            <a:off x="2982218" y="4900256"/>
            <a:ext cx="3307746" cy="263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Autenticação baseada em tokens</a:t>
            </a:r>
            <a:endParaRPr lang="en-US" sz="135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5C9CFAEC-072B-1305-F5FF-7E3CA247DC51}"/>
              </a:ext>
            </a:extLst>
          </p:cNvPr>
          <p:cNvSpPr/>
          <p:nvPr/>
        </p:nvSpPr>
        <p:spPr>
          <a:xfrm>
            <a:off x="9157796" y="4933057"/>
            <a:ext cx="154714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JWT (Bearer)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7150247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CB6CD-3427-F1D3-EF55-F7F78B272D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2F81BB2-44EA-FF5A-66CC-69C956E2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197BC5C8-11B9-1B65-5E25-1F0682BA5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6016966D-A93E-ABF9-A42C-FEE1D31E04A0}"/>
              </a:ext>
            </a:extLst>
          </p:cNvPr>
          <p:cNvSpPr/>
          <p:nvPr/>
        </p:nvSpPr>
        <p:spPr>
          <a:xfrm>
            <a:off x="277091" y="412845"/>
            <a:ext cx="5890141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Documentação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com Swagger</a:t>
            </a:r>
            <a:endParaRPr lang="en-US" sz="36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C3653943-056A-EDED-9920-3A4070417B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092" y="1253756"/>
            <a:ext cx="5890140" cy="525010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B95E39-BD40-4BF5-EB0D-1EDE78D6BF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983" y="1253756"/>
            <a:ext cx="5403273" cy="5250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990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4526FC-DA30-0B71-D8AC-BCA7E6EB9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39052CD6-2C07-14AC-9DDC-77DAA41BE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200384E0-796C-6452-FC96-B61BAB412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7048500"/>
          </a:xfrm>
          <a:prstGeom prst="rect">
            <a:avLst/>
          </a:prstGeom>
        </p:spPr>
      </p:pic>
      <p:sp>
        <p:nvSpPr>
          <p:cNvPr id="18" name="Text 0">
            <a:extLst>
              <a:ext uri="{FF2B5EF4-FFF2-40B4-BE49-F238E27FC236}">
                <a16:creationId xmlns:a16="http://schemas.microsoft.com/office/drawing/2014/main" id="{4CB3F1EF-0306-8E42-A4BA-98B536EC8BB8}"/>
              </a:ext>
            </a:extLst>
          </p:cNvPr>
          <p:cNvSpPr/>
          <p:nvPr/>
        </p:nvSpPr>
        <p:spPr>
          <a:xfrm>
            <a:off x="277091" y="412845"/>
            <a:ext cx="5890141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 err="1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Documentação</a:t>
            </a: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 com Postman</a:t>
            </a:r>
            <a:endParaRPr lang="en-US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C6A8C-09A6-7A12-10E2-4AE9D26D40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691" y="1077971"/>
            <a:ext cx="9309124" cy="5844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0371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39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050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90500"/>
            <a:ext cx="6096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190500"/>
            <a:ext cx="6096000" cy="685800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2009180"/>
            <a:ext cx="4953000" cy="5048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E293B"/>
                </a:solidFill>
                <a:latin typeface="Comfortaa" pitchFamily="34" charset="0"/>
                <a:ea typeface="Comfortaa" pitchFamily="34" charset="-122"/>
                <a:cs typeface="Comfortaa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7" name="Text 1"/>
          <p:cNvSpPr/>
          <p:nvPr/>
        </p:nvSpPr>
        <p:spPr>
          <a:xfrm>
            <a:off x="571500" y="2933105"/>
            <a:ext cx="495300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 plataforma demonstra um alto nível de maturidade técnica em sistemas distribuídos.</a:t>
            </a:r>
            <a:endParaRPr lang="en-US" sz="1800" dirty="0"/>
          </a:p>
        </p:txBody>
      </p:sp>
      <p:sp>
        <p:nvSpPr>
          <p:cNvPr id="8" name="Text 2"/>
          <p:cNvSpPr/>
          <p:nvPr/>
        </p:nvSpPr>
        <p:spPr>
          <a:xfrm>
            <a:off x="571500" y="4035921"/>
            <a:ext cx="4953000" cy="7313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dirty="0">
                <a:solidFill>
                  <a:srgbClr val="334155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Arquitetura modular que garante escalabilidade, resiliência e facilidade de manutenção.</a:t>
            </a:r>
            <a:endParaRPr lang="en-US" sz="1800" dirty="0"/>
          </a:p>
        </p:txBody>
      </p:sp>
      <p:sp>
        <p:nvSpPr>
          <p:cNvPr id="9" name="Text 3"/>
          <p:cNvSpPr/>
          <p:nvPr/>
        </p:nvSpPr>
        <p:spPr>
          <a:xfrm>
            <a:off x="571500" y="5100638"/>
            <a:ext cx="5943600" cy="36567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2563EB"/>
                </a:solidFill>
                <a:latin typeface="Afacad Flux" pitchFamily="34" charset="0"/>
                <a:ea typeface="Afacad Flux" pitchFamily="34" charset="-122"/>
                <a:cs typeface="Afacad Flux" pitchFamily="34" charset="-120"/>
              </a:rPr>
              <a:t>Pronta para cenários reais de mobilidade urbana.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468</Words>
  <Application>Microsoft Macintosh PowerPoint</Application>
  <PresentationFormat>Widescreen</PresentationFormat>
  <Paragraphs>109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Afacad Flux</vt:lpstr>
      <vt:lpstr>Arial</vt:lpstr>
      <vt:lpstr>Comfortaa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Dércio Domingos</cp:lastModifiedBy>
  <cp:revision>4</cp:revision>
  <dcterms:created xsi:type="dcterms:W3CDTF">2026-02-05T23:20:56Z</dcterms:created>
  <dcterms:modified xsi:type="dcterms:W3CDTF">2026-02-06T01:51:39Z</dcterms:modified>
</cp:coreProperties>
</file>